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4" Type="http://schemas.openxmlformats.org/officeDocument/2006/relationships/slide" Target="slides/slide73.xml" /><Relationship Id="rId75" Type="http://schemas.openxmlformats.org/officeDocument/2006/relationships/slide" Target="slides/slide74.xml" /><Relationship Id="rId77" Type="http://schemas.openxmlformats.org/officeDocument/2006/relationships/viewProps" Target="viewProps.xml" /><Relationship Id="rId7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9" Type="http://schemas.openxmlformats.org/officeDocument/2006/relationships/tableStyles" Target="tableStyles.xml" /><Relationship Id="rId7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2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20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4.png" /><Relationship Id="rId2" Type="http://schemas.openxmlformats.org/officeDocument/2006/relationships/image" Target="../media/image2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19.xml" /><Relationship Id="rId3" Type="http://schemas.openxmlformats.org/officeDocument/2006/relationships/slide" Target="slide23.xml" /><Relationship Id="rId4" Type="http://schemas.openxmlformats.org/officeDocument/2006/relationships/slide" Target="slide35.xml" /><Relationship Id="rId5" Type="http://schemas.openxmlformats.org/officeDocument/2006/relationships/slide" Target="slide36.xml" /><Relationship Id="rId6" Type="http://schemas.openxmlformats.org/officeDocument/2006/relationships/slide" Target="slide40.xml" /><Relationship Id="rId7" Type="http://schemas.openxmlformats.org/officeDocument/2006/relationships/slide" Target="slide43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slide" Target="slide50.xml" /><Relationship Id="rId3" Type="http://schemas.openxmlformats.org/officeDocument/2006/relationships/slide" Target="slide51.xml" /><Relationship Id="rId4" Type="http://schemas.openxmlformats.org/officeDocument/2006/relationships/slide" Target="slide69.xml" /><Relationship Id="rId5" Type="http://schemas.openxmlformats.org/officeDocument/2006/relationships/slide" Target="slide52.xml" /><Relationship Id="rId6" Type="http://schemas.openxmlformats.org/officeDocument/2006/relationships/slide" Target="slide54.xml" /><Relationship Id="rId7" Type="http://schemas.openxmlformats.org/officeDocument/2006/relationships/slide" Target="slide56.xml" /><Relationship Id="rId8" Type="http://schemas.openxmlformats.org/officeDocument/2006/relationships/slide" Target="slide68.xml" /><Relationship Id="rId9" Type="http://schemas.openxmlformats.org/officeDocument/2006/relationships/slide" Target="slide68.xml" /><Relationship Id="rId10" Type="http://schemas.openxmlformats.org/officeDocument/2006/relationships/slide" Target="slide58.xml" /><Relationship Id="rId11" Type="http://schemas.openxmlformats.org/officeDocument/2006/relationships/slide" Target="slide60.xml" /><Relationship Id="rId12" Type="http://schemas.openxmlformats.org/officeDocument/2006/relationships/slide" Target="slide62.xml" /><Relationship Id="rId13" Type="http://schemas.openxmlformats.org/officeDocument/2006/relationships/slide" Target="slide64.xml" /><Relationship Id="rId14" Type="http://schemas.openxmlformats.org/officeDocument/2006/relationships/slide" Target="slide66.xml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png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_rels/slide7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7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slide" Target="slide4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Can scientific information address vaccine hesitancy?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Experimental evidence from the flu vaccine</a:t>
            </a:r>
            <a:br/>
            <a:br/>
            <a:r>
              <a:rPr/>
              <a:t>Daniel W. Sacks</a:t>
            </a:r>
            <a:br/>
            <a:r>
              <a:rPr/>
              <a:t>Brigham Walker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Vaccination rates are falling</a:t>
            </a:r>
          </a:p>
        </p:txBody>
      </p:sp>
      <p:pic>
        <p:nvPicPr>
          <p:cNvPr descr="../output/figures/vacc_trend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990600" y="1193800"/>
            <a:ext cx="297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NYT:  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Responding to falling vaccination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View 1: Right to refuse treatment outweights health consequences</a:t>
            </a:r>
          </a:p>
          <a:p>
            <a:pPr lvl="0"/>
            <a:r>
              <a:rPr/>
              <a:t>Fears about adverse events outweigh perceived benefits</a:t>
            </a:r>
          </a:p>
          <a:p>
            <a:pPr lvl="0" indent="0" marL="0">
              <a:buNone/>
            </a:pPr>
            <a:r>
              <a:rPr/>
              <a:t>View 2: Health consequences are large, positive, and rooted in science</a:t>
            </a:r>
          </a:p>
          <a:p>
            <a:pPr lvl="0"/>
            <a:r>
              <a:rPr/>
              <a:t>Perceptions are not correct</a:t>
            </a:r>
          </a:p>
          <a:p>
            <a:pPr lvl="0" indent="0" marL="0">
              <a:buNone/>
            </a:pPr>
            <a:r>
              <a:rPr/>
              <a:t>Hypothesis: Communicating science of vaccines can persuade people to vaccinate</a:t>
            </a:r>
          </a:p>
          <a:p>
            <a:pPr lvl="0"/>
            <a:r>
              <a:rPr/>
              <a:t>Information provision potentially welfare improving by correcting internality</a:t>
            </a:r>
          </a:p>
          <a:p>
            <a:pPr lvl="0" indent="0" marL="0">
              <a:buNone/>
            </a:pPr>
            <a:r>
              <a:rPr/>
              <a:t>I am hoping to pursue this hypothesis in a series of experiments</a:t>
            </a:r>
          </a:p>
          <a:p>
            <a:pPr lvl="0"/>
            <a:r>
              <a:rPr/>
              <a:t>End goal: effective, scaleable information provision treatments</a:t>
            </a:r>
          </a:p>
          <a:p>
            <a:pPr lvl="0"/>
            <a:r>
              <a:rPr/>
              <a:t>Today: First step of the causal chain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communication to vaccination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Information → Understanding → Beliefs → Actions</a:t>
            </a:r>
          </a:p>
          <a:p>
            <a:pPr lvl="0" indent="0" marL="0">
              <a:buNone/>
            </a:pPr>
            <a:r>
              <a:rPr/>
              <a:t>Strength of causal links are not clear, even for moving beliefs</a:t>
            </a:r>
          </a:p>
          <a:p>
            <a:pPr lvl="0"/>
            <a:r>
              <a:rPr/>
              <a:t>Vaccine hesitant people less likely to trust government or doctor</a:t>
            </a:r>
          </a:p>
          <a:p>
            <a:pPr lvl="0"/>
            <a:r>
              <a:rPr/>
              <a:t>May heavily weigh own or peer experience, or other information source</a:t>
            </a:r>
          </a:p>
          <a:p>
            <a:pPr lvl="0" indent="0" marL="0">
              <a:buNone/>
            </a:pPr>
            <a:r>
              <a:rPr/>
              <a:t>This paper: online experiment, flu vaccine, short-run side effect info provision</a:t>
            </a:r>
          </a:p>
          <a:p>
            <a:pPr lvl="0"/>
            <a:r>
              <a:rPr/>
              <a:t>Study population: people not necessarily intending to take flu vaccine</a:t>
            </a:r>
          </a:p>
          <a:p>
            <a:pPr lvl="0"/>
            <a:r>
              <a:rPr/>
              <a:t>Powered for beliefs, not actions (prespecified)</a:t>
            </a:r>
          </a:p>
          <a:p>
            <a:pPr lvl="0"/>
            <a:r>
              <a:rPr/>
              <a:t>Actual vaccination effects (hopefully) to come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the flu vaccine? Why side effects?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flu vaccine?</a:t>
            </a:r>
          </a:p>
          <a:p>
            <a:pPr lvl="0"/>
            <a:r>
              <a:rPr/>
              <a:t>Substantial health costs: 28,000 deaths, 35-40 million cases, 35-45% vaccination rate</a:t>
            </a:r>
          </a:p>
          <a:p>
            <a:pPr lvl="0"/>
            <a:r>
              <a:rPr/>
              <a:t>Many people, regular decision: feasible to study</a:t>
            </a:r>
          </a:p>
          <a:p>
            <a:pPr lvl="0" indent="0" marL="0">
              <a:buNone/>
            </a:pPr>
            <a:r>
              <a:rPr/>
              <a:t>Why side effect information provision?</a:t>
            </a:r>
          </a:p>
          <a:p>
            <a:pPr lvl="0"/>
            <a:r>
              <a:rPr/>
              <a:t>Side effect perceptions matter for choices</a:t>
            </a:r>
          </a:p>
          <a:p>
            <a:pPr lvl="0"/>
            <a:r>
              <a:rPr/>
              <a:t>Vaccine hesitant hold biased beliefs relative to clinical trials</a:t>
            </a:r>
          </a:p>
          <a:p>
            <a:pPr lvl="0"/>
            <a:r>
              <a:rPr/>
              <a:t>Effectiveness and flu risk also natural targets, but beliefs here less biased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Three research questions on scientific information provision and vaccine hesitancy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Can side effect information from scientific studies shift beliefs about personal risk?</a:t>
            </a:r>
          </a:p>
          <a:p>
            <a:pPr lvl="0" indent="-342900" marL="342900">
              <a:buAutoNum type="arabicPeriod"/>
            </a:pPr>
            <a:r>
              <a:rPr/>
              <a:t>Do responses vary with source and study population?</a:t>
            </a:r>
          </a:p>
          <a:p>
            <a:pPr lvl="0" indent="-342900" marL="342900">
              <a:buAutoNum type="arabicPeriod"/>
            </a:pPr>
            <a:r>
              <a:rPr/>
              <a:t>Does information shift vaccine intention and take-up?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Preliminary study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Side effect information from scientific studies shifts beliefs about personal risk</a:t>
            </a:r>
          </a:p>
          <a:p>
            <a:pPr lvl="0"/>
            <a:r>
              <a:rPr/>
              <a:t>by 3 percentage points on a base of 15 (vs. 0-1 in clinical trials)</a:t>
            </a:r>
          </a:p>
          <a:p>
            <a:pPr lvl="0" indent="0" marL="0">
              <a:buNone/>
            </a:pPr>
            <a:r>
              <a:rPr/>
              <a:t>Belief responses don’t clearly move with source</a:t>
            </a:r>
          </a:p>
          <a:p>
            <a:pPr lvl="0"/>
            <a:r>
              <a:rPr/>
              <a:t>Industry and academic arms similar have similar treatment effects</a:t>
            </a:r>
          </a:p>
          <a:p>
            <a:pPr lvl="0"/>
            <a:r>
              <a:rPr/>
              <a:t>Inconsistent results for intervention emphasizing study population</a:t>
            </a:r>
          </a:p>
          <a:p>
            <a:pPr lvl="0" indent="0" marL="0">
              <a:buNone/>
            </a:pPr>
            <a:r>
              <a:rPr/>
              <a:t>Information shifts vaccine intentions, noisy effect on actual vaccination</a:t>
            </a:r>
          </a:p>
          <a:p>
            <a:pPr lvl="0" indent="0" marL="0">
              <a:buNone/>
            </a:pPr>
            <a:r>
              <a:rPr/>
              <a:t>Results are highly heterogeneous (not preregistered)</a:t>
            </a:r>
          </a:p>
          <a:p>
            <a:pPr lvl="0"/>
            <a:r>
              <a:rPr/>
              <a:t>Belief responses bigger for people with worse priors, no previous flu vacc</a:t>
            </a:r>
          </a:p>
          <a:p>
            <a:pPr lvl="0"/>
            <a:r>
              <a:rPr/>
              <a:t>Political views strongly predict belief responses and intention responses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What’s new here?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Contributions to literature on vaccine hesitancy + beliefs</a:t>
            </a:r>
          </a:p>
          <a:p>
            <a:pPr lvl="0" indent="0" marL="0">
              <a:buNone/>
            </a:pPr>
            <a:r>
              <a:rPr/>
              <a:t>Correlational evidence:</a:t>
            </a:r>
          </a:p>
          <a:p>
            <a:pPr lvl="0"/>
            <a:r>
              <a:rPr/>
              <a:t>Mistrust in institutions, pessimistic beliefs (side effects and others).</a:t>
            </a:r>
          </a:p>
          <a:p>
            <a:pPr lvl="0" indent="0" marL="0">
              <a:buNone/>
            </a:pPr>
            <a:r>
              <a:rPr/>
              <a:t>Experiments find:</a:t>
            </a:r>
          </a:p>
          <a:p>
            <a:pPr lvl="0"/>
            <a:r>
              <a:rPr/>
              <a:t>Nudges + encouragement help but onlyto a limited extent</a:t>
            </a:r>
          </a:p>
          <a:p>
            <a:pPr lvl="0"/>
            <a:r>
              <a:rPr/>
              <a:t>Identity of messenger can matter (racial concordance, political concordance)</a:t>
            </a:r>
          </a:p>
          <a:p>
            <a:pPr lvl="0"/>
            <a:r>
              <a:rPr/>
              <a:t>Messages correcting false beliefs mostly unhelpful. No work on short-run side effects.</a:t>
            </a:r>
          </a:p>
          <a:p>
            <a:pPr lvl="0" indent="0" marL="0">
              <a:buNone/>
            </a:pPr>
            <a:r>
              <a:rPr/>
              <a:t>Contributions:</a:t>
            </a:r>
          </a:p>
          <a:p>
            <a:pPr lvl="0"/>
            <a:r>
              <a:rPr/>
              <a:t>Message content matters: side effect infomation relevant.</a:t>
            </a:r>
          </a:p>
          <a:p>
            <a:pPr lvl="0"/>
            <a:r>
              <a:rPr/>
              <a:t>Mistrust in institutions matters because it impedes learning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Experiment Design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 overivew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Screening wave Recruit 8,000 via prolific, screen for hesitancy, late November</a:t>
            </a:r>
          </a:p>
          <a:p>
            <a:pPr lvl="0"/>
            <a:r>
              <a:rPr/>
              <a:t>Don’t intend to vaccinate against flu; may or may not vaccinate against flu</a:t>
            </a:r>
          </a:p>
          <a:p>
            <a:pPr lvl="0"/>
            <a:r>
              <a:rPr/>
              <a:t>Also measure vaccine info sources and experience with flu and COVID vaccines</a:t>
            </a:r>
          </a:p>
          <a:p>
            <a:pPr lvl="0" indent="0" marL="0">
              <a:buNone/>
            </a:pPr>
            <a:r>
              <a:rPr/>
              <a:t>Main wave 3,500 vaccine hesitant participants, 1-7 days later</a:t>
            </a:r>
          </a:p>
          <a:p>
            <a:pPr lvl="0"/>
            <a:r>
              <a:rPr/>
              <a:t>Randomize information provision, measure priors, posteriors, vaccine intentions</a:t>
            </a:r>
          </a:p>
          <a:p>
            <a:pPr lvl="0"/>
            <a:r>
              <a:rPr/>
              <a:t>Ask about trustworthiness and relevance of information, politics, demographics</a:t>
            </a:r>
          </a:p>
          <a:p>
            <a:pPr lvl="0" indent="0" marL="0">
              <a:buNone/>
            </a:pPr>
            <a:r>
              <a:rPr/>
              <a:t>Follow-up wave 3,000 participants, 2-4 weeks later</a:t>
            </a:r>
          </a:p>
          <a:p>
            <a:pPr lvl="0"/>
            <a:r>
              <a:rPr/>
              <a:t>Obfuscate intentions then measure whether vaccinated this season</a:t>
            </a:r>
          </a:p>
          <a:p>
            <a:pPr lvl="0"/>
            <a:r>
              <a:rPr/>
              <a:t>Also measure recall of wave 2 (not discussed today)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Info provision: Control arm</a:t>
            </a:r>
          </a:p>
        </p:txBody>
      </p:sp>
      <p:pic>
        <p:nvPicPr>
          <p:cNvPr descr="contro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09700"/>
            <a:ext cx="40386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Info provision: Industry info arm</a:t>
            </a:r>
          </a:p>
        </p:txBody>
      </p:sp>
      <p:pic>
        <p:nvPicPr>
          <p:cNvPr descr="industr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09700"/>
            <a:ext cx="40386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Info provision: Academic info arm</a:t>
            </a:r>
          </a:p>
        </p:txBody>
      </p:sp>
      <p:pic>
        <p:nvPicPr>
          <p:cNvPr descr="contro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09700"/>
            <a:ext cx="40386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Info provision: Personal info arm</a:t>
            </a:r>
          </a:p>
        </p:txBody>
      </p:sp>
      <p:pic>
        <p:nvPicPr>
          <p:cNvPr descr="contro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09700"/>
            <a:ext cx="4038600" cy="2971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personal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724400" y="1193800"/>
            <a:ext cx="38862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Information provision can affect two dimensions of beliefs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-342900" marL="342900">
                  <a:buAutoNum type="arabicPeriod"/>
                </a:pPr>
                <a:r>
                  <a:rPr/>
                  <a:t>Beliefs about what happened in the trial.</a:t>
                </a:r>
              </a:p>
              <a:p>
                <a:pPr lvl="1"/>
                <a:r>
                  <a:rPr/>
                  <a:t>“SE (trial)”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Beliefs about what would happen to you</a:t>
                </a:r>
              </a:p>
              <a:p>
                <a:pPr lvl="1"/>
                <a:r>
                  <a:rPr/>
                  <a:t>Personal risk,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Δ</m:t>
                            </m:r>
                          </m:e>
                        </m:acc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i</m:t>
                        </m:r>
                      </m:sub>
                    </m:sSub>
                  </m:oMath>
                </a14:m>
                <a:r>
                  <a:rPr/>
                  <a:t> or sometimes “Delta”</a:t>
                </a:r>
              </a:p>
              <a:p>
                <a:pPr lvl="0" indent="0" marL="0">
                  <a:buNone/>
                </a:pPr>
                <a:r>
                  <a:rPr/>
                  <a:t>We examine each separately</a:t>
                </a:r>
              </a:p>
            </p:txBody>
          </p:sp>
        </mc:Choice>
      </mc:AlternateContent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Incentivized elicitation of beliefs about SE (trial)</a:t>
            </a:r>
          </a:p>
        </p:txBody>
      </p:sp>
      <p:pic>
        <p:nvPicPr>
          <p:cNvPr descr="trial_inf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68500" y="1193800"/>
            <a:ext cx="5207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Eliciting side effect beliefs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Conceptualization</a:t>
                </a:r>
              </a:p>
              <a:p>
                <a:pPr lvl="0" indent="0" marL="0">
                  <a:buNone/>
                </a:pPr>
                <a:r>
                  <a:rPr/>
                  <a:t>“Side effect” is causal effect of vaccine on short-run, severe adverse event rate</a:t>
                </a:r>
              </a:p>
              <a:p>
                <a:pPr lvl="0"/>
                <a:r>
                  <a:rPr/>
                  <a:t>Short-run: lasting a few days</a:t>
                </a:r>
              </a:p>
              <a:p>
                <a:pPr lvl="0"/>
                <a:r>
                  <a:rPr/>
                  <a:t>“Severe”: grade 3, disruptive to your day - real cost, not just noticeable</a:t>
                </a:r>
              </a:p>
              <a:p>
                <a:pPr lvl="0" indent="0" marL="0">
                  <a:buNone/>
                </a:pPr>
                <a:r>
                  <a:rPr/>
                  <a:t>Two requirements for us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Person specific: participant’s expected effect, not population or trial average effect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Causal contrast, not level of symptom: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Δ</m:t>
                            </m:r>
                          </m:e>
                        </m:acc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</m:e>
                    </m:d>
                  </m:oMath>
                </a14:m>
              </a:p>
            </p:txBody>
          </p:sp>
        </mc:Choice>
      </mc:AlternateContent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Eliciting side effect beliefs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Operationalizaiton</a:t>
                </a:r>
              </a:p>
              <a:p>
                <a:pPr lvl="0" indent="0" marL="0">
                  <a:buNone/>
                </a:pPr>
                <a:r>
                  <a:rPr/>
                  <a:t>We get causal contrast by eliciting both potential outcomes. To elicit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</m:e>
                    </m:d>
                  </m:oMath>
                </a14:m>
                <a:r>
                  <a:rPr/>
                  <a:t>:</a:t>
                </a:r>
              </a:p>
              <a:p>
                <a:pPr lvl="0" indent="0" marL="1270000">
                  <a:buNone/>
                </a:pPr>
                <a:r>
                  <a:rPr sz="2000"/>
                  <a:t>For this question, please imagine, regardless of your actual vaccination status, that you </a:t>
                </a:r>
                <a:r>
                  <a:rPr sz="2000" b="1"/>
                  <a:t>DO NOT</a:t>
                </a:r>
                <a:r>
                  <a:rPr sz="2000"/>
                  <a:t> get the flu vaccine tomorrow or in the following few days.</a:t>
                </a:r>
              </a:p>
              <a:p>
                <a:pPr lvl="0" indent="0" marL="1270000">
                  <a:buNone/>
                </a:pPr>
                <a:r>
                  <a:rPr sz="2000"/>
                  <a:t>Thinking about yourself, how likely do you think you would be to experience a severe adverse event, such as headache, muscle ache, tiredness, joint pain, fever, chills, or general discomfort, in the following few days? </a:t>
                </a:r>
                <a:r>
                  <a:rPr sz="2000" i="1"/>
                  <a:t>(As a reminder, severe means bad enough to disrupty your daily activity)</a:t>
                </a:r>
              </a:p>
              <a:p>
                <a:pPr lvl="0" indent="0" marL="0">
                  <a:buNone/>
                </a:pPr>
                <a:r>
                  <a:rPr/>
                  <a:t>Elicit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analogously. Subjective side effect rate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Δ</m:t>
                            </m:r>
                          </m:e>
                        </m:acc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</m:e>
                    </m:d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Before information provision, elicit priors for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0</m:t>
                        </m:r>
                      </m:e>
                    </m:d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y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1</m:t>
                        </m:r>
                      </m:e>
                    </m:d>
                  </m:oMath>
                </a14:m>
                <a:r>
                  <a:rPr/>
                  <a:t> using likert scale</a:t>
                </a:r>
              </a:p>
            </p:txBody>
          </p:sp>
        </mc:Choice>
      </mc:AlternateContent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Specification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All prespecified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y</m:t>
                      </m:r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r>
                        <m:t>I</m:t>
                      </m:r>
                      <m:r>
                        <m:t>n</m:t>
                      </m:r>
                      <m:r>
                        <m:t>d</m:t>
                      </m:r>
                      <m:r>
                        <m:t>u</m:t>
                      </m:r>
                      <m:r>
                        <m:t>s</m:t>
                      </m:r>
                      <m:r>
                        <m:t>t</m:t>
                      </m:r>
                      <m:r>
                        <m:t>r</m:t>
                      </m:r>
                      <m:r>
                        <m:t>y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r>
                        <m:t>A</m:t>
                      </m:r>
                      <m:r>
                        <m:t>c</m:t>
                      </m:r>
                      <m:r>
                        <m:t>a</m:t>
                      </m:r>
                      <m:r>
                        <m:t>d</m:t>
                      </m:r>
                      <m:r>
                        <m:t>e</m:t>
                      </m:r>
                      <m:r>
                        <m:t>m</m:t>
                      </m:r>
                      <m:r>
                        <m:t>i</m:t>
                      </m:r>
                      <m:r>
                        <m:t>c</m:t>
                      </m:r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b</m:t>
                          </m:r>
                        </m:e>
                        <m:sub>
                          <m:r>
                            <m:t>3</m:t>
                          </m:r>
                        </m:sub>
                      </m:sSub>
                      <m:r>
                        <m:rPr>
                          <m:sty m:val="p"/>
                        </m:rPr>
                        <m:t>⋅</m:t>
                      </m:r>
                      <m:r>
                        <m:t>P</m:t>
                      </m:r>
                      <m:r>
                        <m:t>e</m:t>
                      </m:r>
                      <m:r>
                        <m:t>r</m:t>
                      </m:r>
                      <m:r>
                        <m:t>s</m:t>
                      </m:r>
                      <m:r>
                        <m:t>o</m:t>
                      </m:r>
                      <m:r>
                        <m:t>n</m:t>
                      </m:r>
                      <m:r>
                        <m:t>a</m:t>
                      </m:r>
                      <m:r>
                        <m:t>l</m:t>
                      </m:r>
                      <m:r>
                        <m:rPr>
                          <m:sty m:val="p"/>
                        </m:rPr>
                        <m:t>+</m:t>
                      </m:r>
                      <m:r>
                        <m:t>C</m:t>
                      </m:r>
                      <m:r>
                        <m:t>o</m:t>
                      </m:r>
                      <m:r>
                        <m:t>n</m:t>
                      </m:r>
                      <m:r>
                        <m:t>t</m:t>
                      </m:r>
                      <m:r>
                        <m:t>r</m:t>
                      </m:r>
                      <m:r>
                        <m:t>o</m:t>
                      </m:r>
                      <m:r>
                        <m:t>l</m:t>
                      </m:r>
                      <m:r>
                        <m:t>s</m:t>
                      </m:r>
                    </m:oMath>
                  </m:oMathPara>
                </a14:m>
              </a:p>
            </p:txBody>
          </p:sp>
        </mc:Choice>
      </mc:AlternateContent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Outcomes</a:t>
                </a:r>
              </a:p>
              <a:p>
                <a:pPr lvl="0"/>
                <a:r>
                  <a:rPr/>
                  <a:t>Side effect experienced in trial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Δ</m:t>
                            </m:r>
                          </m:e>
                        </m:acc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 Side effect belief (primary)</a:t>
                </a:r>
              </a:p>
              <a:p>
                <a:pPr lvl="0"/>
                <a:r>
                  <a:rPr/>
                  <a:t>Intend to vaccinate</a:t>
                </a:r>
              </a:p>
              <a:p>
                <a:pPr lvl="0"/>
                <a:r>
                  <a:rPr/>
                  <a:t>Clicked on a link</a:t>
                </a:r>
              </a:p>
              <a:p>
                <a:pPr lvl="0"/>
                <a:r>
                  <a:rPr/>
                  <a:t>Indicated vaccination in follow-up survey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Controls (power-improving)</a:t>
            </a:r>
          </a:p>
          <a:p>
            <a:pPr lvl="0"/>
            <a:r>
              <a:rPr/>
              <a:t>Prior beliefs</a:t>
            </a:r>
          </a:p>
          <a:p>
            <a:pPr lvl="0"/>
            <a:r>
              <a:rPr/>
              <a:t>Base vacc intent + experiences</a:t>
            </a:r>
          </a:p>
          <a:p>
            <a:pPr lvl="0"/>
            <a:r>
              <a:rPr/>
              <a:t>Demographics</a:t>
            </a:r>
          </a:p>
          <a:p>
            <a:pPr lvl="0"/>
            <a:r>
              <a:rPr/>
              <a:t>Trust in government</a:t>
            </a:r>
          </a:p>
          <a:p>
            <a:pPr lvl="0"/>
            <a:r>
              <a:rPr/>
              <a:t>Chronic condition indicators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Appendix →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Results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Side effect beliefs </a:t>
                </a:r>
                <a14:m>
                  <m:oMath xmlns:m="http://schemas.openxmlformats.org/officeDocument/2006/math">
                    <m:sSub>
                      <m:e>
                        <m:r>
                          <m:t>Δ</m:t>
                        </m:r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 biased with high face validity</a:t>
                </a:r>
              </a:p>
            </p:txBody>
          </p:sp>
        </mc:Choice>
      </mc:AlternateContent>
      <p:pic>
        <p:nvPicPr>
          <p:cNvPr descr="../output/figures/beliefs_poole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09600" y="1193800"/>
            <a:ext cx="7912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Appendix →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Side effect beliefs </a:t>
                </a:r>
                <a14:m>
                  <m:oMath xmlns:m="http://schemas.openxmlformats.org/officeDocument/2006/math">
                    <m:sSub>
                      <m:e>
                        <m:r>
                          <m:t>Δ</m:t>
                        </m:r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 biased with high face validity</a:t>
                </a:r>
              </a:p>
            </p:txBody>
          </p:sp>
        </mc:Choice>
      </mc:AlternateContent>
      <p:pic>
        <p:nvPicPr>
          <p:cNvPr descr="../output/figures/delta_by_tru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Side effect beliefs </a:t>
                </a:r>
                <a14:m>
                  <m:oMath xmlns:m="http://schemas.openxmlformats.org/officeDocument/2006/math">
                    <m:sSub>
                      <m:e>
                        <m:r>
                          <m:t>Δ</m:t>
                        </m:r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 biased with high face validity</a:t>
                </a:r>
              </a:p>
            </p:txBody>
          </p:sp>
        </mc:Choice>
      </mc:AlternateContent>
      <p:pic>
        <p:nvPicPr>
          <p:cNvPr descr="../output/figures/delta_by_vacc_rea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Vaccine hesitant’s beliefs might be hard to move</a:t>
            </a:r>
          </a:p>
        </p:txBody>
      </p:sp>
      <p:pic>
        <p:nvPicPr>
          <p:cNvPr descr="../output/figures/use_info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{.center}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Vaccine hesitant’s beliefs might be hard to move</a:t>
            </a:r>
          </a:p>
        </p:txBody>
      </p:sp>
      <p:pic>
        <p:nvPicPr>
          <p:cNvPr descr="../output/figures/use_info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{.center}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Vaccine hesitant’s beliefs might be hard to move</a:t>
            </a:r>
          </a:p>
        </p:txBody>
      </p:sp>
      <p:pic>
        <p:nvPicPr>
          <p:cNvPr descr="../output/figures/use_info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{.center}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Vaccine hesitant’s beliefs might be hard to move</a:t>
            </a:r>
          </a:p>
        </p:txBody>
      </p:sp>
      <p:pic>
        <p:nvPicPr>
          <p:cNvPr descr="../output/figures/reliable_info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{.center}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Industry and academic study info moves beliefs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Notes: Robust standard errors in parentheses. Controls not shown. </a:t>
            </a:r>
            <a:r>
              <a:rPr>
                <a:hlinkClick r:id="rId2" action="ppaction://hlinksldjump"/>
              </a:rPr>
              <a:t>Appendix →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Heterogeneous effects consistent with belief updating rather than experimenter demand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Caution: not preregistered</a:t>
            </a:r>
          </a:p>
          <a:p>
            <a:pPr lvl="0" indent="0" marL="0">
              <a:buNone/>
            </a:pPr>
            <a:r>
              <a:rPr/>
              <a:t>Effects are larger for people with …</a:t>
            </a:r>
          </a:p>
          <a:p>
            <a:pPr lvl="0"/>
            <a:r>
              <a:rPr/>
              <a:t>Diffuse priors: no prior vaccine experience rather than no reaction</a:t>
            </a:r>
          </a:p>
          <a:p>
            <a:pPr lvl="0"/>
            <a:r>
              <a:rPr/>
              <a:t>Worse priors: Prior belief indicates side effect likely</a:t>
            </a:r>
          </a:p>
          <a:p>
            <a:pPr lvl="0"/>
            <a:r>
              <a:rPr/>
              <a:t>Trust in institutions: says university info reliable</a:t>
            </a:r>
          </a:p>
          <a:p>
            <a:pPr lvl="0" indent="0" marL="0">
              <a:buNone/>
            </a:pPr>
            <a:r>
              <a:rPr/>
              <a:t>Effects also larger for people who say they found industry info trustworthy and reliable</a:t>
            </a:r>
          </a:p>
          <a:p>
            <a:pPr lvl="0" indent="0" marL="0">
              <a:buNone/>
            </a:pPr>
            <a:r>
              <a:rPr>
                <a:hlinkClick r:id="rId2" action="ppaction://hlinksldjump"/>
              </a:rPr>
              <a:t>Details →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 of information on intentions and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Notes: Robust standard errors in parentheses. Controls not shown. </a:t>
            </a:r>
            <a:r>
              <a:rPr>
                <a:hlinkClick r:id="rId2" action="ppaction://hlinksldjump"/>
              </a:rPr>
              <a:t>Appendix →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Effect of information on intentions and actions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Notes: Robust standard errors in parentheses. Controls not shown. </a:t>
            </a:r>
            <a:r>
              <a:rPr>
                <a:hlinkClick r:id="rId2" action="ppaction://hlinksldjump"/>
              </a:rPr>
              <a:t>Appendix →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Summarizing: Results are promising but puzzling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Promising: Some information does shift side effect beliefs and intentions</a:t>
            </a:r>
          </a:p>
          <a:p>
            <a:pPr lvl="0"/>
            <a:r>
              <a:rPr/>
              <a:t>Insignificant take-up response reflects limited power, uncertainty (not precise null)</a:t>
            </a:r>
          </a:p>
          <a:p>
            <a:pPr lvl="0" indent="0" marL="0">
              <a:buNone/>
            </a:pPr>
            <a:r>
              <a:rPr/>
              <a:t>Puzzling: Inconsistent pattern of belief and intention responses</a:t>
            </a:r>
          </a:p>
          <a:p>
            <a:pPr lvl="0"/>
            <a:r>
              <a:rPr/>
              <a:t>Industry arm reduces side effect beliefs but does not increase intentions</a:t>
            </a:r>
          </a:p>
          <a:p>
            <a:pPr lvl="0"/>
            <a:r>
              <a:rPr/>
              <a:t>Personal arm does not change side effect beliefs but does increase intentions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Partial resolution: Political views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Caution: not pre-specified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4900"/>
                <a:gridCol w="660400"/>
                <a:gridCol w="660400"/>
                <a:gridCol w="660400"/>
                <a:gridCol w="660400"/>
                <a:gridCol w="660400"/>
                <a:gridCol w="6604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 (trial)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Vacc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 (trial)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Vacc Intent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-8.422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-1.502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-0.023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-7.684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-7.044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0.044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(1.167)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(1.352)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(1.250)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(1.586)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(0.023)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Academic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-3.717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-1.382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-5.286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-6.068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0.072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(1.205)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(1.349)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(1.243)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(1.546)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(0.024)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-4.200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0.912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-5.737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-0.975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(1.215)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(1.349)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(1.243)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(1.585)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(0.023)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21.130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16.315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0.062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18.683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13.953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0.080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2,145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2,145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2,145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1,389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1,389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1,381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Politics: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Cons/mod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Cons/mod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Cons/mod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Liberal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Liberal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Liberal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Notes: Robust standard errors in parentheses. Controls not shown. </a:t>
            </a:r>
            <a:r>
              <a:rPr>
                <a:hlinkClick r:id="rId2" action="ppaction://hlinksldjump"/>
              </a:rPr>
              <a:t>Appendix →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Politics matter because they correlate with determinants of belief updating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Caution: not pre-specified</a:t>
            </a:r>
          </a:p>
          <a:p>
            <a:pPr lvl="0" indent="0" marL="0">
              <a:buNone/>
            </a:pPr>
            <a:r>
              <a:rPr/>
              <a:t>View of trial</a:t>
            </a:r>
          </a:p>
          <a:p>
            <a:pPr lvl="0"/>
            <a:r>
              <a:rPr/>
              <a:t>Did you find it trustworthy? (0-10 scale)</a:t>
            </a:r>
          </a:p>
          <a:p>
            <a:pPr lvl="0"/>
            <a:r>
              <a:rPr/>
              <a:t>Did ou find relevant? (0-10 scale)</a:t>
            </a:r>
          </a:p>
          <a:p>
            <a:pPr lvl="0" indent="0" marL="0">
              <a:buNone/>
            </a:pPr>
            <a:r>
              <a:rPr/>
              <a:t>Views of university-provided information</a:t>
            </a:r>
          </a:p>
          <a:p>
            <a:pPr lvl="0"/>
            <a:r>
              <a:rPr/>
              <a:t>Do you obtain health care info from university research or researchers?</a:t>
            </a:r>
          </a:p>
          <a:p>
            <a:pPr lvl="0"/>
            <a:r>
              <a:rPr/>
              <a:t>Do you consider that information reliable?</a:t>
            </a:r>
          </a:p>
          <a:p>
            <a:pPr lvl="0" indent="0" marL="0">
              <a:buNone/>
            </a:pPr>
            <a:r>
              <a:rPr>
                <a:hlinkClick r:id="rId2" action="ppaction://hlinksldjump"/>
              </a:rPr>
              <a:t>Appendix →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Expressive responding and experimenter demand are unlikely to explain these results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People expressing their vaccine preferences, or saying what they think we want to hear</a:t>
                </a:r>
              </a:p>
              <a:p>
                <a:pPr lvl="0" indent="0" marL="0">
                  <a:buNone/>
                </a:pPr>
                <a:r>
                  <a:rPr/>
                  <a:t>Very difficult to explain pattern of treatment effects thusly</a:t>
                </a:r>
              </a:p>
              <a:p>
                <a:pPr lvl="0"/>
                <a:r>
                  <a:rPr/>
                  <a:t>Participants don’t know which treatment arm they’re in</a:t>
                </a:r>
              </a:p>
              <a:p>
                <a:pPr lvl="0"/>
                <a:r>
                  <a:rPr/>
                  <a:t>Control-vs-industry: same signal of experiment intent, different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̃"/>
                          </m:accPr>
                          <m:e>
                            <m:r>
                              <m:t>Δ</m:t>
                            </m:r>
                          </m:e>
                        </m:acc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</m:sub>
                    </m:sSub>
                  </m:oMath>
                </a14:m>
              </a:p>
              <a:p>
                <a:pPr lvl="0" indent="0" marL="0">
                  <a:buNone/>
                </a:pPr>
                <a:r>
                  <a:rPr/>
                  <a:t>More evidence: reported </a:t>
                </a:r>
                <a14:m>
                  <m:oMath xmlns:m="http://schemas.openxmlformats.org/officeDocument/2006/math">
                    <m:sSub>
                      <m:e>
                        <m:r>
                          <m:t>Δ</m:t>
                        </m:r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 inconsistent with expressive answering </a:t>
                </a:r>
                <a:r>
                  <a:rPr>
                    <a:hlinkClick r:id="rId2" action="ppaction://hlinksldjump"/>
                  </a:rPr>
                  <a:t>Appendix →</a:t>
                </a:r>
              </a:p>
              <a:p>
                <a:pPr lvl="0"/>
                <a:r>
                  <a:rPr/>
                  <a:t>Correlated with believed trial SE rate, own flu + covid vaccine experiencs</a:t>
                </a:r>
              </a:p>
              <a:p>
                <a:pPr lvl="0"/>
                <a:r>
                  <a:rPr/>
                  <a:t>Correlations similar by political view</a:t>
                </a:r>
              </a:p>
            </p:txBody>
          </p:sp>
        </mc:Choice>
      </mc:AlternateContent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Conclusions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Conclusions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extremely uncreative, unslick presentation of scientific information made vaccine hesitant people update their beliefs in a pro-vaccine direction</a:t>
            </a:r>
          </a:p>
          <a:p>
            <a:pPr lvl="0" indent="0" marL="0">
              <a:buNone/>
            </a:pPr>
            <a:r>
              <a:rPr/>
              <a:t>When belief updating happens, scientific information shifts intentions</a:t>
            </a:r>
          </a:p>
          <a:p>
            <a:pPr lvl="0"/>
            <a:r>
              <a:rPr/>
              <a:t>Political views key moderator of belief updating, via perceived study informativeness</a:t>
            </a:r>
          </a:p>
          <a:p>
            <a:pPr lvl="0" indent="0" marL="0">
              <a:buNone/>
            </a:pPr>
            <a:r>
              <a:rPr/>
              <a:t>Effect on vaccinations statistically imprecise; noisy null</a:t>
            </a:r>
          </a:p>
          <a:p>
            <a:pPr lvl="0" indent="0" marL="0">
              <a:buNone/>
            </a:pPr>
            <a:r>
              <a:rPr/>
              <a:t>Getting detectable effect on vaccinations likely requires bigger belief updating</a:t>
            </a:r>
          </a:p>
          <a:p>
            <a:pPr lvl="0"/>
            <a:r>
              <a:rPr/>
              <a:t>Better presentation and communication of trials?</a:t>
            </a:r>
          </a:p>
          <a:p>
            <a:pPr lvl="0"/>
            <a:r>
              <a:rPr/>
              <a:t>Bigger information intervention (effectiveness + side effects)?</a:t>
            </a:r>
          </a:p>
          <a:p>
            <a:pPr lvl="0"/>
            <a:r>
              <a:rPr/>
              <a:t>Trusted, relevant source?</a:t>
            </a:r>
          </a:p>
          <a:p>
            <a:pPr lvl="0"/>
            <a:r>
              <a:rPr/>
              <a:t>Possibly other dimensions of information are more important?</a:t>
            </a:r>
          </a:p>
        </p:txBody>
      </p:sp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Thank You</a:t>
            </a:r>
          </a:p>
          <a:p>
            <a:pPr lvl="0" indent="0" marL="0">
              <a:buNone/>
            </a:pPr>
            <a:r>
              <a:rPr/>
              <a:t>Comments welcome: dan.sacks@wisc.edu</a:t>
            </a:r>
          </a:p>
        </p:txBody>
      </p:sp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Appendix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Specification</a:t>
            </a:r>
            <a:r>
              <a:rPr/>
              <a:t> </a:t>
            </a:r>
            <a:r>
              <a:rPr>
                <a:hlinkClick r:id="rId3" action="ppaction://hlinksldjump"/>
              </a:rPr>
              <a:t>← Beliefs</a:t>
            </a:r>
            <a:r>
              <a:rPr/>
              <a:t> </a:t>
            </a:r>
            <a:r>
              <a:rPr>
                <a:hlinkClick r:id="rId4" action="ppaction://hlinksldjump"/>
              </a:rPr>
              <a:t>← Treatment Effects</a:t>
            </a:r>
            <a:r>
              <a:rPr/>
              <a:t> </a:t>
            </a:r>
            <a:r>
              <a:rPr>
                <a:hlinkClick r:id="rId5" action="ppaction://hlinksldjump"/>
              </a:rPr>
              <a:t>← HTEs</a:t>
            </a:r>
            <a:r>
              <a:rPr/>
              <a:t> </a:t>
            </a:r>
            <a:r>
              <a:rPr>
                <a:hlinkClick r:id="rId6" action="ppaction://hlinksldjump"/>
              </a:rPr>
              <a:t>← HTE by Politics</a:t>
            </a:r>
            <a:r>
              <a:rPr/>
              <a:t> </a:t>
            </a:r>
            <a:r>
              <a:rPr>
                <a:hlinkClick r:id="rId7" action="ppaction://hlinksldjump"/>
              </a:rPr>
              <a:t>← Expressive answering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More on validity</a:t>
                </a:r>
              </a:p>
              <a:p>
                <a:pPr lvl="0"/>
                <a:r>
                  <a:rPr>
                    <a:hlinkClick r:id="rId2" action="ppaction://hlinksldjump"/>
                  </a:rPr>
                  <a:t>Experiment balance</a:t>
                </a:r>
              </a:p>
              <a:p>
                <a:pPr lvl="0"/>
                <a:r>
                  <a:rPr>
                    <a:hlinkClick r:id="rId3" action="ppaction://hlinksldjump"/>
                  </a:rPr>
                  <a:t>Experiment balance (demographics)</a:t>
                </a:r>
              </a:p>
              <a:p>
                <a:pPr lvl="0"/>
                <a:r>
                  <a:rPr>
                    <a:hlinkClick r:id="rId4" action="ppaction://hlinksldjump"/>
                  </a:rPr>
                  <a:t>Belief correlates</a:t>
                </a:r>
              </a:p>
              <a:p>
                <a:pPr lvl="0"/>
                <a:r>
                  <a:rPr>
                    <a:hlinkClick r:id="rId5" action="ppaction://hlinksldjump"/>
                  </a:rPr>
                  <a:t>CDF of beliefs by treatment arm</a:t>
                </a:r>
              </a:p>
              <a:p>
                <a:pPr lvl="0"/>
                <a:r>
                  <a:rPr>
                    <a:hlinkClick r:id="rId6" action="ppaction://hlinksldjump"/>
                  </a:rPr>
                  <a:t>Trust in trial by polviews</a:t>
                </a:r>
              </a:p>
              <a:p>
                <a:pPr lvl="0"/>
                <a:r>
                  <a:rPr>
                    <a:hlinkClick r:id="rId7" action="ppaction://hlinksldjump"/>
                  </a:rPr>
                  <a:t>Trust in university by polviews</a:t>
                </a:r>
              </a:p>
              <a:p>
                <a:pPr lvl="0"/>
                <a:r>
                  <a:rPr>
                    <a:hlinkClick r:id="rId8" action="ppaction://hlinksldjump"/>
                  </a:rPr>
                  <a:t>Correlates of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>
                    <a:hlinkClick r:id="rId9" action="ppaction://hlinksldjump"/>
                  </a:rPr>
                  <a:t> by polviews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More HTEs</a:t>
            </a:r>
          </a:p>
          <a:p>
            <a:pPr lvl="0"/>
            <a:r>
              <a:rPr>
                <a:hlinkClick r:id="rId10" action="ppaction://hlinksldjump"/>
              </a:rPr>
              <a:t>HTE: Prior beliefs</a:t>
            </a:r>
          </a:p>
          <a:p>
            <a:pPr lvl="0"/>
            <a:r>
              <a:rPr>
                <a:hlinkClick r:id="rId11" action="ppaction://hlinksldjump"/>
              </a:rPr>
              <a:t>HTE: Prior experience</a:t>
            </a:r>
          </a:p>
          <a:p>
            <a:pPr lvl="0"/>
            <a:r>
              <a:rPr>
                <a:hlinkClick r:id="rId12" action="ppaction://hlinksldjump"/>
              </a:rPr>
              <a:t>HTE: Trust</a:t>
            </a:r>
          </a:p>
          <a:p>
            <a:pPr lvl="0"/>
            <a:r>
              <a:rPr>
                <a:hlinkClick r:id="rId13" action="ppaction://hlinksldjump"/>
              </a:rPr>
              <a:t>HTE: Relevance</a:t>
            </a:r>
          </a:p>
          <a:p>
            <a:pPr lvl="0"/>
            <a:r>
              <a:rPr>
                <a:hlinkClick r:id="rId14" action="ppaction://hlinksldjump"/>
              </a:rPr>
              <a:t>HTE: University info reliable</a:t>
            </a:r>
          </a:p>
        </p:txBody>
      </p:sp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Experiment balance (demographics)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CDF of beliefs by treatment arm</a:t>
            </a:r>
          </a:p>
        </p:txBody>
      </p:sp>
      <p:pic>
        <p:nvPicPr>
          <p:cNvPr descr="../output/figures/belief_cdf_by_ar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Political views and trust/relevance of trial info</a:t>
            </a:r>
          </a:p>
        </p:txBody>
      </p:sp>
      <p:pic>
        <p:nvPicPr>
          <p:cNvPr descr="../output/figures/trust_by_polview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Political views and trust/relevance of university info</a:t>
            </a:r>
          </a:p>
        </p:txBody>
      </p:sp>
      <p:pic>
        <p:nvPicPr>
          <p:cNvPr descr="../output/figures/uni_by_polview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HTE: Prior beliefs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079500"/>
                <a:gridCol w="1079500"/>
                <a:gridCol w="1079500"/>
                <a:gridCol w="1079500"/>
                <a:gridCol w="1079500"/>
                <a:gridCol w="10795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 (trial)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Vacc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 (trial)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Vacc Intent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-4.096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-0.838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-10.941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-5.314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0.015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(0.999)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(0.964)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(1.324)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(1.694)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(0.014)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Academic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-1.306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-0.116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0.027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-6.731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-5.332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0.032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(1.020)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(0.901)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(1.368)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(1.700)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(0.015)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-2.091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-0.147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0.025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-7.015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0.628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(1.034)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(0.940)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(1.364)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(1.705)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(0.015)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12.824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2.318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26.187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26.060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0.045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1,631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1,631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1,626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1,903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1,903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HTE: Prior experience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5700"/>
                <a:gridCol w="1447800"/>
                <a:gridCol w="1447800"/>
                <a:gridCol w="1447800"/>
                <a:gridCol w="1447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-3.619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-1.852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-3.708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2.875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(1.725)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(1.251)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(2.452)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(8.150)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Academic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-3.291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-5.955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-3.549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(1.656)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(1.492)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(2.416)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(6.617)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0.687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0.726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-0.385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-5.964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(1.741)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(1.296)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(2.519)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(6.485)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17.346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6.789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18.101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38.386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1,431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1,085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802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207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Prior reaction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 vacc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 rxn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Mild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Severe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HTE: Trust trial info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079500"/>
                <a:gridCol w="1079500"/>
                <a:gridCol w="1079500"/>
                <a:gridCol w="1079500"/>
                <a:gridCol w="1079500"/>
                <a:gridCol w="10795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 (trial)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Vacc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 (trial)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Vacc Intent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-7.620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-1.572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-8.138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-4.856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0.020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(1.352)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(1.576)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(1.086)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(1.324)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Academic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-4.586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-0.849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-3.903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-4.541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0.042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(1.400)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(1.586)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(1.111)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(1.298)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-3.748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2.089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-5.413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-1.142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0.046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(1.396)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(1.573)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(1.096)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(1.333)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21.921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17.573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0.040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18.786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13.650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0.093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1,788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1,788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1,786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1,746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1,746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1,740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Trust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HTE: Found trial relevant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079500"/>
                <a:gridCol w="1079500"/>
                <a:gridCol w="1079500"/>
                <a:gridCol w="1079500"/>
                <a:gridCol w="1079500"/>
                <a:gridCol w="10795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 (trial)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Vacc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 (trial)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Vacc Intent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-8.171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-3.002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-0.020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-8.122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-4.364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(1.262)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(1.490)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(1.155)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(1.418)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(0.021)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Academic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-5.059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-2.984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-3.292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-3.445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(1.261)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(1.455)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(1.244)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(1.381)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-4.804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-0.285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-5.169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-0.028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0.030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(1.265)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(1.436)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(1.214)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(1.462)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(0.022)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21.977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19.054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18.363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11.674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0.092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1,877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1,877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1,875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1,657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1,657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1,651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Relevance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Low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High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HTE: University info reliable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0"/>
                <a:gridCol w="1079500"/>
                <a:gridCol w="1079500"/>
                <a:gridCol w="1079500"/>
                <a:gridCol w="1079500"/>
                <a:gridCol w="1079500"/>
                <a:gridCol w="10795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 (trial)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Vacc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SE (trial)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Delta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Vacc Intent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Industry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-7.309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-1.058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-0.008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-9.320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-8.189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0.012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(1.139)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(1.300)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(1.195)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(1.695)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(0.024)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Academic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-3.419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-2.446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-5.835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-4.380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0.061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(1.167)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(1.315)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(0.014)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(1.298)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(1.565)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(0.025)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Personal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-4.118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0.724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0.005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-5.831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-1.007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0.059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(1.180)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(1.322)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(0.013)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(1.256)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(1.617)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(0.026)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Control mean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21.677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16.107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0.053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17.506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14.149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0.099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2,279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2,279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2,273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1,255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1,255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1,253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Uni reliable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Correlates of </a:t>
                </a:r>
                <a14:m>
                  <m:oMath xmlns:m="http://schemas.openxmlformats.org/officeDocument/2006/math">
                    <m:r>
                      <m:t>Δ</m:t>
                    </m:r>
                  </m:oMath>
                </a14:m>
                <a:r>
                  <a:rPr/>
                  <a:t> by political views</a:t>
                </a:r>
              </a:p>
            </p:txBody>
          </p:sp>
        </mc:Choice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Notes: Robust standard errors in parentheses. “Conservative” includes moderate. </a:t>
            </a: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Side effect beliefs </a:t>
                </a:r>
                <a14:m>
                  <m:oMath xmlns:m="http://schemas.openxmlformats.org/officeDocument/2006/math">
                    <m:sSub>
                      <m:e>
                        <m:r>
                          <m:t>Δ</m:t>
                        </m:r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 have high face validity because they correlate with trust and experience</a:t>
                </a:r>
              </a:p>
            </p:txBody>
          </p:sp>
        </mc:Choice>
      </mc:AlternateContent>
      <p:pic>
        <p:nvPicPr>
          <p:cNvPr descr="../output/figures/delta_by_tru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Side effect beliefs </a:t>
                </a:r>
                <a14:m>
                  <m:oMath xmlns:m="http://schemas.openxmlformats.org/officeDocument/2006/math">
                    <m:sSub>
                      <m:e>
                        <m:r>
                          <m:t>Δ</m:t>
                        </m:r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 have high face validity because they correlate with trust and experience</a:t>
                </a:r>
              </a:p>
            </p:txBody>
          </p:sp>
        </mc:Choice>
      </mc:AlternateContent>
      <p:pic>
        <p:nvPicPr>
          <p:cNvPr descr="../output/figures/delta_by_vacc_reaction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Side effect beliefs </a:t>
                </a:r>
                <a14:m>
                  <m:oMath xmlns:m="http://schemas.openxmlformats.org/officeDocument/2006/math">
                    <m:sSub>
                      <m:e>
                        <m:r>
                          <m:t>Δ</m:t>
                        </m:r>
                      </m:e>
                      <m:sub>
                        <m:r>
                          <m:t>s</m:t>
                        </m:r>
                        <m:r>
                          <m:t>e</m:t>
                        </m:r>
                        <m:r>
                          <m:t>l</m:t>
                        </m:r>
                        <m:r>
                          <m:t>f</m:t>
                        </m:r>
                      </m:sub>
                    </m:sSub>
                  </m:oMath>
                </a14:m>
                <a:r>
                  <a:rPr/>
                  <a:t> and political views</a:t>
                </a:r>
              </a:p>
            </p:txBody>
          </p:sp>
        </mc:Choice>
      </mc:AlternateContent>
      <p:pic>
        <p:nvPicPr>
          <p:cNvPr descr="../output/figures/polviews_dist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00200" y="1193800"/>
            <a:ext cx="59309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hlinkClick r:id="rId2" action="ppaction://hlinksldjump"/>
              </a:rPr>
              <a:t>← Appendix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scientific information address vaccine hesitancy?</dc:title>
  <dc:creator>Daniel W. Sacks; Brigham Walker</dc:creator>
  <cp:keywords/>
  <dcterms:created xsi:type="dcterms:W3CDTF">2026-03-04T14:27:06Z</dcterms:created>
  <dcterms:modified xsi:type="dcterms:W3CDTF">2026-03-04T14:27:06Z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labels">
    <vt:lpwstr/>
  </property>
  <property fmtid="{D5CDD505-2E9C-101B-9397-08002B2CF9AE}" pid="11" name="subtitle">
    <vt:lpwstr>Experimental evidence from the flu vaccine</vt:lpwstr>
  </property>
  <property fmtid="{D5CDD505-2E9C-101B-9397-08002B2CF9AE}" pid="12" name="toc-title">
    <vt:lpwstr>Table of contents</vt:lpwstr>
  </property>
</Properties>
</file>